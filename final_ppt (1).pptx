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notesMasterIdLst>
    <p:notesMasterId r:id="rId11"/>
  </p:notesMasterIdLst>
  <p:sldIdLst>
    <p:sldId id="257" r:id="rId5"/>
    <p:sldId id="259" r:id="rId6"/>
    <p:sldId id="261" r:id="rId7"/>
    <p:sldId id="260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04040"/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138601-9D17-4482-849F-4B07273C770B}" type="datetimeFigureOut">
              <a:rPr lang="en-IN" smtClean="0"/>
              <a:t>26-09-2025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B87F77-F0F9-4A27-8993-D25C0F0F57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3318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9/26/2025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9/26/2025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9/26/2025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9/26/2025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9/26/2025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9/26/2025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9/26/2025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9/26/2025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9/26/2025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9/26/2025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9/26/2025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9/26/2025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8.pn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9605" y="2427547"/>
            <a:ext cx="5506065" cy="188671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/>
            </a:r>
            <a:br>
              <a:rPr lang="en-US" b="1" dirty="0"/>
            </a:br>
            <a:endParaRPr lang="en-US" sz="8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8984" y="1564133"/>
            <a:ext cx="6269347" cy="1563869"/>
          </a:xfrm>
        </p:spPr>
        <p:txBody>
          <a:bodyPr>
            <a:normAutofit fontScale="32500" lnSpcReduction="20000"/>
          </a:bodyPr>
          <a:lstStyle/>
          <a:p>
            <a:r>
              <a:rPr lang="en-US" sz="13500" b="1" cap="none" spc="-300" dirty="0">
                <a:latin typeface="Bell MT" panose="02020503060305020303" pitchFamily="18" charset="0"/>
              </a:rPr>
              <a:t>Real-time Public Transport Tracking For Small Cities</a:t>
            </a:r>
          </a:p>
          <a:p>
            <a:endParaRPr lang="en-US" sz="2400" cap="none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D2B4230-3DE0-CC08-C8B7-59B32A5C5EEC}"/>
              </a:ext>
            </a:extLst>
          </p:cNvPr>
          <p:cNvSpPr txBox="1"/>
          <p:nvPr/>
        </p:nvSpPr>
        <p:spPr>
          <a:xfrm>
            <a:off x="769375" y="3944927"/>
            <a:ext cx="61304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CD596D-8B56-BE23-FB8C-6EBB61D8792E}"/>
              </a:ext>
            </a:extLst>
          </p:cNvPr>
          <p:cNvSpPr txBox="1"/>
          <p:nvPr/>
        </p:nvSpPr>
        <p:spPr>
          <a:xfrm>
            <a:off x="5292098" y="3213299"/>
            <a:ext cx="68999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Transportation &amp; Logistics | Software Solution</a:t>
            </a:r>
            <a:endParaRPr lang="en-US" dirty="0"/>
          </a:p>
          <a:p>
            <a:r>
              <a:rPr lang="en-US" dirty="0" err="1"/>
              <a:t>Revolutionising</a:t>
            </a:r>
            <a:r>
              <a:rPr lang="en-US" dirty="0"/>
              <a:t> public transport efficiency through intelligent tracking</a:t>
            </a:r>
          </a:p>
          <a:p>
            <a:r>
              <a:rPr lang="en-US" dirty="0"/>
              <a:t> systems for emerging urban </a:t>
            </a:r>
            <a:r>
              <a:rPr lang="en-US" dirty="0" err="1"/>
              <a:t>centres</a:t>
            </a:r>
            <a:r>
              <a:rPr lang="en-US" dirty="0"/>
              <a:t> across India.</a:t>
            </a:r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1551D7-AD8F-C393-6919-17D0537A0F71}"/>
              </a:ext>
            </a:extLst>
          </p:cNvPr>
          <p:cNvSpPr txBox="1"/>
          <p:nvPr/>
        </p:nvSpPr>
        <p:spPr>
          <a:xfrm>
            <a:off x="5278984" y="5100011"/>
            <a:ext cx="53145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Team ID: </a:t>
            </a:r>
            <a:r>
              <a:rPr lang="en-US" dirty="0"/>
              <a:t>[To be assigned] | </a:t>
            </a:r>
            <a:r>
              <a:rPr lang="en-US" b="1" dirty="0"/>
              <a:t>Team Name: </a:t>
            </a:r>
            <a:r>
              <a:rPr lang="en-US" dirty="0" smtClean="0"/>
              <a:t>CodeNova</a:t>
            </a:r>
            <a:endParaRPr lang="en-US" dirty="0"/>
          </a:p>
          <a:p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A9064A8-46CA-7C31-1837-0B5BF70802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4779" y="54384"/>
            <a:ext cx="1804598" cy="917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86AEF4-6AD4-07AE-ED12-88989416E87B}"/>
              </a:ext>
            </a:extLst>
          </p:cNvPr>
          <p:cNvSpPr txBox="1"/>
          <p:nvPr/>
        </p:nvSpPr>
        <p:spPr>
          <a:xfrm>
            <a:off x="5278984" y="4801914"/>
            <a:ext cx="3079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Problem Statement Id- </a:t>
            </a:r>
            <a:r>
              <a:rPr lang="en-US" dirty="0"/>
              <a:t>25013</a:t>
            </a:r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260ED23-B84D-6B1C-5970-9CDFB3DBA1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557" y="1054139"/>
            <a:ext cx="4583123" cy="4318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98277" y="255162"/>
            <a:ext cx="90121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rgbClr val="002060"/>
                </a:solidFill>
                <a:latin typeface="Bell MT" panose="02020503060305020303" pitchFamily="18" charset="0"/>
              </a:rPr>
              <a:t>SMART INDIA HACKATHON 2025</a:t>
            </a:r>
            <a:endParaRPr lang="en-IN" sz="4000" b="1" dirty="0">
              <a:solidFill>
                <a:srgbClr val="002060"/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35F35-5121-31E5-7153-9938DBFA15A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315327" y="147273"/>
            <a:ext cx="8053138" cy="1103510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tx1"/>
                </a:solidFill>
                <a:latin typeface="Bell MT" panose="02020503060305020303" pitchFamily="18" charset="0"/>
              </a:rPr>
              <a:t>The Challenge &amp; Our </a:t>
            </a:r>
            <a:br>
              <a:rPr lang="en-IN" sz="3600" b="1" dirty="0">
                <a:solidFill>
                  <a:schemeClr val="tx1"/>
                </a:solidFill>
                <a:latin typeface="Bell MT" panose="02020503060305020303" pitchFamily="18" charset="0"/>
              </a:rPr>
            </a:br>
            <a:r>
              <a:rPr lang="en-IN" sz="3600" b="1" dirty="0">
                <a:solidFill>
                  <a:schemeClr val="tx1"/>
                </a:solidFill>
                <a:latin typeface="Bell MT" panose="02020503060305020303" pitchFamily="18" charset="0"/>
              </a:rPr>
              <a:t>Innovation</a:t>
            </a: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6F10651-FA20-875B-FB0C-747CED6C96FA}"/>
              </a:ext>
            </a:extLst>
          </p:cNvPr>
          <p:cNvSpPr/>
          <p:nvPr/>
        </p:nvSpPr>
        <p:spPr>
          <a:xfrm>
            <a:off x="4443662" y="1471154"/>
            <a:ext cx="7475621" cy="154004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Current Problem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Tier-2 cities lack real-time bus info (UMI 2024)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Commuters face delays, overcrowding and low reliability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India loses billions annually due to congestion and inefficiency </a:t>
            </a:r>
          </a:p>
          <a:p>
            <a:pPr algn="ctr"/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3F0CA62-A67B-BDF7-FBE2-8D195A4C2943}"/>
              </a:ext>
            </a:extLst>
          </p:cNvPr>
          <p:cNvSpPr/>
          <p:nvPr/>
        </p:nvSpPr>
        <p:spPr>
          <a:xfrm>
            <a:off x="4443662" y="3307975"/>
            <a:ext cx="7475622" cy="154004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Our 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Web platform showing real-time bus tracking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Live locations, estimated arrival times, buses stops info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Low Bandwidth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optimised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034B99-5745-3E4E-C483-D85C8C45777E}"/>
              </a:ext>
            </a:extLst>
          </p:cNvPr>
          <p:cNvSpPr txBox="1"/>
          <p:nvPr/>
        </p:nvSpPr>
        <p:spPr>
          <a:xfrm>
            <a:off x="4203032" y="5614737"/>
            <a:ext cx="48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F568B3-AA49-308F-4CE4-C900640211CA}"/>
              </a:ext>
            </a:extLst>
          </p:cNvPr>
          <p:cNvSpPr txBox="1"/>
          <p:nvPr/>
        </p:nvSpPr>
        <p:spPr>
          <a:xfrm>
            <a:off x="4443662" y="5009052"/>
            <a:ext cx="67754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Our innovative approach combines live GPS tracking with intelligent </a:t>
            </a:r>
          </a:p>
          <a:p>
            <a:pPr algn="just"/>
            <a:r>
              <a:rPr lang="en-US" dirty="0"/>
              <a:t>prediction algorithms, enabling passengers to monitor bus locations</a:t>
            </a:r>
          </a:p>
          <a:p>
            <a:pPr algn="just"/>
            <a:r>
              <a:rPr lang="en-US" dirty="0"/>
              <a:t> in real-time and plan their journeys effectively.</a:t>
            </a:r>
          </a:p>
          <a:p>
            <a:pPr algn="just"/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9E78DB-FF3D-FEA4-E52B-BBA715DA9258}"/>
              </a:ext>
            </a:extLst>
          </p:cNvPr>
          <p:cNvSpPr/>
          <p:nvPr/>
        </p:nvSpPr>
        <p:spPr>
          <a:xfrm>
            <a:off x="-1" y="1250782"/>
            <a:ext cx="4010529" cy="51339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972C4A-6549-A863-B7CC-81AA898CA8C8}"/>
              </a:ext>
            </a:extLst>
          </p:cNvPr>
          <p:cNvSpPr txBox="1"/>
          <p:nvPr/>
        </p:nvSpPr>
        <p:spPr>
          <a:xfrm>
            <a:off x="10026316" y="4309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0E13C0-EA43-B442-E319-8EC58E6195D4}"/>
              </a:ext>
            </a:extLst>
          </p:cNvPr>
          <p:cNvSpPr txBox="1"/>
          <p:nvPr/>
        </p:nvSpPr>
        <p:spPr>
          <a:xfrm>
            <a:off x="3156284" y="2965466"/>
            <a:ext cx="63125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/>
            </a:r>
            <a:br>
              <a:rPr lang="en-IN" b="1" dirty="0"/>
            </a:br>
            <a:endParaRPr lang="en-IN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0C08610-6749-6B7A-0982-A4A3B9E929B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064" y="1250783"/>
            <a:ext cx="4010529" cy="5133974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9047827-69C2-DEEC-FFC7-671B8B7CCA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4779" y="54384"/>
            <a:ext cx="1804598" cy="917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45065D1-3C3D-F1D6-322F-D26B014FEC17}"/>
              </a:ext>
            </a:extLst>
          </p:cNvPr>
          <p:cNvSpPr txBox="1"/>
          <p:nvPr/>
        </p:nvSpPr>
        <p:spPr>
          <a:xfrm>
            <a:off x="4315327" y="6387561"/>
            <a:ext cx="32453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white"/>
                </a:solidFill>
                <a:latin typeface="TradeGothic"/>
              </a:rPr>
              <a:t>@SIH Idea submission- Template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6B73BE-48A1-C723-09A5-C6BCD336512F}"/>
              </a:ext>
            </a:extLst>
          </p:cNvPr>
          <p:cNvSpPr txBox="1"/>
          <p:nvPr/>
        </p:nvSpPr>
        <p:spPr>
          <a:xfrm>
            <a:off x="11759624" y="6434284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2</a:t>
            </a:r>
            <a:endParaRPr lang="en-IN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6756481-36E4-1649-F798-4686F818EE44}"/>
              </a:ext>
            </a:extLst>
          </p:cNvPr>
          <p:cNvCxnSpPr/>
          <p:nvPr/>
        </p:nvCxnSpPr>
        <p:spPr>
          <a:xfrm>
            <a:off x="4443662" y="1250783"/>
            <a:ext cx="45399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272564" y="175844"/>
            <a:ext cx="1529862" cy="64632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413238" y="298938"/>
            <a:ext cx="1389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CodeNova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7357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C4B06B-983F-5606-EA08-33FC6C790B3B}"/>
              </a:ext>
            </a:extLst>
          </p:cNvPr>
          <p:cNvSpPr txBox="1"/>
          <p:nvPr/>
        </p:nvSpPr>
        <p:spPr>
          <a:xfrm>
            <a:off x="1255151" y="-85405"/>
            <a:ext cx="9216204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Bell MT" panose="02020503060305020303" pitchFamily="18" charset="0"/>
              </a:rPr>
              <a:t>Technical Implementation Strategy &amp; stack</a:t>
            </a:r>
          </a:p>
          <a:p>
            <a:endParaRPr lang="en-IN" sz="4000" dirty="0">
              <a:latin typeface="Bell MT" panose="02020503060305020303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29621BD-FA7E-26D1-A133-7E8666D8A34C}"/>
              </a:ext>
            </a:extLst>
          </p:cNvPr>
          <p:cNvCxnSpPr>
            <a:cxnSpLocks/>
          </p:cNvCxnSpPr>
          <p:nvPr/>
        </p:nvCxnSpPr>
        <p:spPr>
          <a:xfrm flipV="1">
            <a:off x="1807733" y="1158734"/>
            <a:ext cx="8259691" cy="56122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D2D9D916-B405-A3AA-FF05-2A2CF427A154}"/>
              </a:ext>
            </a:extLst>
          </p:cNvPr>
          <p:cNvSpPr/>
          <p:nvPr/>
        </p:nvSpPr>
        <p:spPr>
          <a:xfrm>
            <a:off x="192505" y="1639057"/>
            <a:ext cx="3850106" cy="213083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Frontend Development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Frontend is built with HTML, CSS and JS for a responsive and efficient user experience</a:t>
            </a:r>
          </a:p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7B170C-14E3-1D44-8576-FCC4494C76F5}"/>
              </a:ext>
            </a:extLst>
          </p:cNvPr>
          <p:cNvSpPr/>
          <p:nvPr/>
        </p:nvSpPr>
        <p:spPr>
          <a:xfrm>
            <a:off x="6127082" y="4455515"/>
            <a:ext cx="5751097" cy="175515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Implementation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Build a functional prototype, integrate GPS, followed by offline features for low connectivity.</a:t>
            </a:r>
          </a:p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C69B15-2272-AE00-9996-63165C005ADB}"/>
              </a:ext>
            </a:extLst>
          </p:cNvPr>
          <p:cNvSpPr/>
          <p:nvPr/>
        </p:nvSpPr>
        <p:spPr>
          <a:xfrm>
            <a:off x="344904" y="4455515"/>
            <a:ext cx="5628776" cy="17551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endParaRPr lang="en-US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GPS Integration</a:t>
            </a:r>
          </a:p>
          <a:p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GPS data will be fed via devices across buses or open-source APIs. Mapping will use Leaflet or a similar kind of lightweight tool for better performance  </a:t>
            </a:r>
            <a:endParaRPr lang="en-US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AD3E99-12FC-442F-D0B2-407E2CE8CA91}"/>
              </a:ext>
            </a:extLst>
          </p:cNvPr>
          <p:cNvSpPr/>
          <p:nvPr/>
        </p:nvSpPr>
        <p:spPr>
          <a:xfrm>
            <a:off x="8379770" y="1639428"/>
            <a:ext cx="3498404" cy="213046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Database Architecture</a:t>
            </a:r>
          </a:p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Database models are set for buses, their stops, their schedules and users</a:t>
            </a:r>
          </a:p>
          <a:p>
            <a:endParaRPr lang="en-US" sz="1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DBCF67-7070-653A-C3DE-9246E7F9E040}"/>
              </a:ext>
            </a:extLst>
          </p:cNvPr>
          <p:cNvSpPr/>
          <p:nvPr/>
        </p:nvSpPr>
        <p:spPr>
          <a:xfrm>
            <a:off x="4282127" y="1656592"/>
            <a:ext cx="3858127" cy="213083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Backend Development 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Backend uses Django for reliable, scalable and open-source development.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  <a:p>
            <a:endParaRPr lang="en-US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6E938B9-7266-2045-0379-70EDFDACC673}"/>
              </a:ext>
            </a:extLst>
          </p:cNvPr>
          <p:cNvCxnSpPr/>
          <p:nvPr/>
        </p:nvCxnSpPr>
        <p:spPr>
          <a:xfrm>
            <a:off x="192505" y="1970587"/>
            <a:ext cx="385010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BAC460D-8056-AD46-260A-FB2580A0DD0E}"/>
              </a:ext>
            </a:extLst>
          </p:cNvPr>
          <p:cNvCxnSpPr/>
          <p:nvPr/>
        </p:nvCxnSpPr>
        <p:spPr>
          <a:xfrm>
            <a:off x="4260291" y="1970587"/>
            <a:ext cx="385812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EE7186A-65E1-71CE-1B47-9E79BBF11F1A}"/>
              </a:ext>
            </a:extLst>
          </p:cNvPr>
          <p:cNvCxnSpPr>
            <a:cxnSpLocks/>
          </p:cNvCxnSpPr>
          <p:nvPr/>
        </p:nvCxnSpPr>
        <p:spPr>
          <a:xfrm>
            <a:off x="8379770" y="1970587"/>
            <a:ext cx="35202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62D171C-5865-823D-6293-7460D157E73E}"/>
              </a:ext>
            </a:extLst>
          </p:cNvPr>
          <p:cNvCxnSpPr/>
          <p:nvPr/>
        </p:nvCxnSpPr>
        <p:spPr>
          <a:xfrm>
            <a:off x="6148913" y="4759737"/>
            <a:ext cx="575109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D6C3681-0D9D-A22E-19E5-A626E1B9C9DB}"/>
              </a:ext>
            </a:extLst>
          </p:cNvPr>
          <p:cNvCxnSpPr>
            <a:cxnSpLocks/>
          </p:cNvCxnSpPr>
          <p:nvPr/>
        </p:nvCxnSpPr>
        <p:spPr>
          <a:xfrm flipH="1">
            <a:off x="344904" y="4758887"/>
            <a:ext cx="562877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9332B75-5CD5-0DCD-18DF-1ED685E27E0E}"/>
              </a:ext>
            </a:extLst>
          </p:cNvPr>
          <p:cNvSpPr txBox="1"/>
          <p:nvPr/>
        </p:nvSpPr>
        <p:spPr>
          <a:xfrm>
            <a:off x="192505" y="1601255"/>
            <a:ext cx="445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01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D637FA7-017F-F7AB-74E2-767BD6D8DF0F}"/>
              </a:ext>
            </a:extLst>
          </p:cNvPr>
          <p:cNvSpPr txBox="1"/>
          <p:nvPr/>
        </p:nvSpPr>
        <p:spPr>
          <a:xfrm>
            <a:off x="4260291" y="1601255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02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D87C6AE-6711-E2AC-DD44-434E488BBEF3}"/>
              </a:ext>
            </a:extLst>
          </p:cNvPr>
          <p:cNvSpPr txBox="1"/>
          <p:nvPr/>
        </p:nvSpPr>
        <p:spPr>
          <a:xfrm>
            <a:off x="8381865" y="1601255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03</a:t>
            </a:r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724C05-9272-7841-6BB0-A21ABCE00BFF}"/>
              </a:ext>
            </a:extLst>
          </p:cNvPr>
          <p:cNvSpPr txBox="1"/>
          <p:nvPr/>
        </p:nvSpPr>
        <p:spPr>
          <a:xfrm>
            <a:off x="344904" y="4444057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04</a:t>
            </a:r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BA53D69-D389-B149-3979-F012EE9F2245}"/>
              </a:ext>
            </a:extLst>
          </p:cNvPr>
          <p:cNvSpPr txBox="1"/>
          <p:nvPr/>
        </p:nvSpPr>
        <p:spPr>
          <a:xfrm>
            <a:off x="6127082" y="4444057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05</a:t>
            </a:r>
            <a:endParaRPr lang="en-IN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899027E-1B3E-EABE-EA10-740E9799333D}"/>
              </a:ext>
            </a:extLst>
          </p:cNvPr>
          <p:cNvCxnSpPr/>
          <p:nvPr/>
        </p:nvCxnSpPr>
        <p:spPr>
          <a:xfrm flipH="1">
            <a:off x="1830797" y="1137803"/>
            <a:ext cx="419401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8198AC1-A3EE-C497-44E8-28AFF399B598}"/>
              </a:ext>
            </a:extLst>
          </p:cNvPr>
          <p:cNvCxnSpPr>
            <a:cxnSpLocks/>
          </p:cNvCxnSpPr>
          <p:nvPr/>
        </p:nvCxnSpPr>
        <p:spPr>
          <a:xfrm>
            <a:off x="1830797" y="1137803"/>
            <a:ext cx="0" cy="5012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6A6E793-5566-8E31-E369-371620B6A9D4}"/>
              </a:ext>
            </a:extLst>
          </p:cNvPr>
          <p:cNvCxnSpPr>
            <a:cxnSpLocks/>
          </p:cNvCxnSpPr>
          <p:nvPr/>
        </p:nvCxnSpPr>
        <p:spPr>
          <a:xfrm>
            <a:off x="10067424" y="1158734"/>
            <a:ext cx="0" cy="4203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59D3A81-4B32-0BF1-453E-1EB6B6C74CEC}"/>
              </a:ext>
            </a:extLst>
          </p:cNvPr>
          <p:cNvCxnSpPr>
            <a:cxnSpLocks/>
          </p:cNvCxnSpPr>
          <p:nvPr/>
        </p:nvCxnSpPr>
        <p:spPr>
          <a:xfrm>
            <a:off x="10067424" y="1158734"/>
            <a:ext cx="196415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AD35745D-6EF4-ADB5-CD2C-BDD3B27A73D8}"/>
              </a:ext>
            </a:extLst>
          </p:cNvPr>
          <p:cNvCxnSpPr>
            <a:cxnSpLocks/>
          </p:cNvCxnSpPr>
          <p:nvPr/>
        </p:nvCxnSpPr>
        <p:spPr>
          <a:xfrm>
            <a:off x="12031579" y="1158734"/>
            <a:ext cx="0" cy="29274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6A6493BC-1839-0205-DD85-26B5AD0F2230}"/>
              </a:ext>
            </a:extLst>
          </p:cNvPr>
          <p:cNvCxnSpPr>
            <a:cxnSpLocks/>
            <a:endCxn id="6" idx="0"/>
          </p:cNvCxnSpPr>
          <p:nvPr/>
        </p:nvCxnSpPr>
        <p:spPr>
          <a:xfrm rot="10800000" flipV="1">
            <a:off x="9002631" y="4098883"/>
            <a:ext cx="3028950" cy="356632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01A452DF-C720-34CD-8598-56B5AD26F443}"/>
              </a:ext>
            </a:extLst>
          </p:cNvPr>
          <p:cNvCxnSpPr>
            <a:cxnSpLocks/>
            <a:endCxn id="7" idx="0"/>
          </p:cNvCxnSpPr>
          <p:nvPr/>
        </p:nvCxnSpPr>
        <p:spPr>
          <a:xfrm rot="10800000" flipV="1">
            <a:off x="3159292" y="4098883"/>
            <a:ext cx="5843338" cy="356632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8873DB36-6560-164E-F8C2-FBA5A84809B5}"/>
              </a:ext>
            </a:extLst>
          </p:cNvPr>
          <p:cNvCxnSpPr/>
          <p:nvPr/>
        </p:nvCxnSpPr>
        <p:spPr>
          <a:xfrm>
            <a:off x="2967789" y="577516"/>
            <a:ext cx="574307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C7CB09FA-F6D7-8315-76B2-AB46B3C3A299}"/>
              </a:ext>
            </a:extLst>
          </p:cNvPr>
          <p:cNvCxnSpPr/>
          <p:nvPr/>
        </p:nvCxnSpPr>
        <p:spPr>
          <a:xfrm>
            <a:off x="6017788" y="577516"/>
            <a:ext cx="0" cy="5602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5" name="Picture 94">
            <a:extLst>
              <a:ext uri="{FF2B5EF4-FFF2-40B4-BE49-F238E27FC236}">
                <a16:creationId xmlns:a16="http://schemas.microsoft.com/office/drawing/2014/main" id="{4C2FE137-334A-13C6-8BE3-B22401C20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4779" y="54384"/>
            <a:ext cx="1804598" cy="917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1F2930-DFF6-CDF6-C293-50F80E035B7A}"/>
              </a:ext>
            </a:extLst>
          </p:cNvPr>
          <p:cNvSpPr txBox="1"/>
          <p:nvPr/>
        </p:nvSpPr>
        <p:spPr>
          <a:xfrm>
            <a:off x="5034116" y="6623746"/>
            <a:ext cx="58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4D3B36-BC00-E3C3-FF5E-D59711A6F279}"/>
              </a:ext>
            </a:extLst>
          </p:cNvPr>
          <p:cNvSpPr txBox="1"/>
          <p:nvPr/>
        </p:nvSpPr>
        <p:spPr>
          <a:xfrm>
            <a:off x="5093110" y="6744929"/>
            <a:ext cx="58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DFBFC0-0BD3-C824-1E95-838CD757DC09}"/>
              </a:ext>
            </a:extLst>
          </p:cNvPr>
          <p:cNvSpPr txBox="1"/>
          <p:nvPr/>
        </p:nvSpPr>
        <p:spPr>
          <a:xfrm>
            <a:off x="4282127" y="6421763"/>
            <a:ext cx="32453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white"/>
                </a:solidFill>
                <a:latin typeface="TradeGothic"/>
              </a:rPr>
              <a:t>@SIH Idea submission- Template</a:t>
            </a:r>
          </a:p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744108-1D97-BE98-91DC-CBCFC7DA0BB2}"/>
              </a:ext>
            </a:extLst>
          </p:cNvPr>
          <p:cNvSpPr txBox="1"/>
          <p:nvPr/>
        </p:nvSpPr>
        <p:spPr>
          <a:xfrm>
            <a:off x="11777291" y="6489811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3</a:t>
            </a:r>
            <a:endParaRPr lang="en-IN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123098" y="386858"/>
            <a:ext cx="1529862" cy="64632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/>
          <p:cNvSpPr txBox="1"/>
          <p:nvPr/>
        </p:nvSpPr>
        <p:spPr>
          <a:xfrm>
            <a:off x="263772" y="509952"/>
            <a:ext cx="1389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CodeNova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3245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0AAE23-677C-5AEF-E51B-10002330C6ED}"/>
              </a:ext>
            </a:extLst>
          </p:cNvPr>
          <p:cNvSpPr txBox="1"/>
          <p:nvPr/>
        </p:nvSpPr>
        <p:spPr>
          <a:xfrm>
            <a:off x="4748463" y="3429000"/>
            <a:ext cx="2423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</a:t>
            </a:r>
          </a:p>
          <a:p>
            <a:endParaRPr lang="en-IN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F2F1B58-3BA7-8507-F280-68DD0A5D1F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4779" y="54384"/>
            <a:ext cx="1804598" cy="917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784D398A-96DD-2066-852A-B4C2FC0D3C94}"/>
              </a:ext>
            </a:extLst>
          </p:cNvPr>
          <p:cNvSpPr txBox="1"/>
          <p:nvPr/>
        </p:nvSpPr>
        <p:spPr>
          <a:xfrm>
            <a:off x="2609194" y="95581"/>
            <a:ext cx="64508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Bell MT" panose="02020503060305020303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</a:t>
            </a:r>
            <a:r>
              <a:rPr lang="en-US" sz="3200" b="1" dirty="0">
                <a:latin typeface="Bell MT" panose="02020503060305020303" pitchFamily="18" charset="0"/>
                <a:ea typeface="ＭＳ Ｐゴシック" pitchFamily="1" charset="-128"/>
                <a:cs typeface="Times New Roman" panose="02020603050405020304" pitchFamily="18" charset="0"/>
              </a:rPr>
              <a:t> AND VIABILITY</a:t>
            </a:r>
            <a:endParaRPr lang="en-IN" sz="3200" dirty="0">
              <a:latin typeface="Bell MT" panose="020205030603050203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5B0DB7-4431-8C82-4D79-1AD05274E002}"/>
              </a:ext>
            </a:extLst>
          </p:cNvPr>
          <p:cNvSpPr txBox="1"/>
          <p:nvPr/>
        </p:nvSpPr>
        <p:spPr>
          <a:xfrm>
            <a:off x="4092849" y="6480450"/>
            <a:ext cx="32453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white"/>
                </a:solidFill>
                <a:latin typeface="TradeGothic"/>
              </a:rPr>
              <a:t>@SIH Idea submission- Template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99B15C-C47E-8EA3-8FD1-277C5AEF1ADA}"/>
              </a:ext>
            </a:extLst>
          </p:cNvPr>
          <p:cNvSpPr txBox="1"/>
          <p:nvPr/>
        </p:nvSpPr>
        <p:spPr>
          <a:xfrm>
            <a:off x="11849718" y="6480450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4</a:t>
            </a:r>
            <a:endParaRPr lang="en-IN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E2E43C6-0935-9BF4-34DE-B8791AAA6611}"/>
              </a:ext>
            </a:extLst>
          </p:cNvPr>
          <p:cNvCxnSpPr>
            <a:cxnSpLocks/>
          </p:cNvCxnSpPr>
          <p:nvPr/>
        </p:nvCxnSpPr>
        <p:spPr>
          <a:xfrm>
            <a:off x="2866806" y="741912"/>
            <a:ext cx="566759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Hexagon 13">
            <a:extLst>
              <a:ext uri="{FF2B5EF4-FFF2-40B4-BE49-F238E27FC236}">
                <a16:creationId xmlns:a16="http://schemas.microsoft.com/office/drawing/2014/main" id="{449EBB57-3F2A-F332-2CE5-1F0E3B105DCA}"/>
              </a:ext>
            </a:extLst>
          </p:cNvPr>
          <p:cNvSpPr/>
          <p:nvPr/>
        </p:nvSpPr>
        <p:spPr>
          <a:xfrm>
            <a:off x="5059423" y="2311258"/>
            <a:ext cx="2645900" cy="2311927"/>
          </a:xfrm>
          <a:prstGeom prst="hexagon">
            <a:avLst/>
          </a:prstGeom>
          <a:solidFill>
            <a:schemeClr val="accent1">
              <a:lumMod val="60000"/>
              <a:lumOff val="40000"/>
            </a:schemeClr>
          </a:solidFill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Segoe UI Variable Text" pitchFamily="2" charset="0"/>
              </a:rPr>
              <a:t>Feasibility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~High demand for real-time tracking.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~Few reliable solutions in India.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~Scalable across cities/routes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B47DC40E-B4A7-9BCD-BF7A-6F0E2AF1CBA3}"/>
              </a:ext>
            </a:extLst>
          </p:cNvPr>
          <p:cNvSpPr/>
          <p:nvPr/>
        </p:nvSpPr>
        <p:spPr>
          <a:xfrm>
            <a:off x="7211450" y="1078849"/>
            <a:ext cx="2645900" cy="2311927"/>
          </a:xfrm>
          <a:prstGeom prst="hexagon">
            <a:avLst/>
          </a:prstGeom>
          <a:solidFill>
            <a:schemeClr val="accent1">
              <a:lumMod val="60000"/>
              <a:lumOff val="40000"/>
            </a:schemeClr>
          </a:solidFill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Challenges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~GPS/live data availability.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~Real-time tech complexity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~Low user awareness.</a:t>
            </a:r>
          </a:p>
          <a:p>
            <a:pPr algn="ctr"/>
            <a:endParaRPr lang="en-IN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037CC3FC-2833-0B80-4552-D0C18BBB1C9D}"/>
              </a:ext>
            </a:extLst>
          </p:cNvPr>
          <p:cNvSpPr/>
          <p:nvPr/>
        </p:nvSpPr>
        <p:spPr>
          <a:xfrm>
            <a:off x="9363478" y="2347469"/>
            <a:ext cx="2645899" cy="2239507"/>
          </a:xfrm>
          <a:prstGeom prst="hexagon">
            <a:avLst/>
          </a:prstGeom>
          <a:solidFill>
            <a:schemeClr val="accent1">
              <a:lumMod val="60000"/>
              <a:lumOff val="40000"/>
            </a:schemeClr>
          </a:solidFill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Strategies</a:t>
            </a:r>
          </a:p>
          <a:p>
            <a:pPr algn="ctr"/>
            <a:r>
              <a:rPr lang="en-IN" sz="1200" dirty="0">
                <a:solidFill>
                  <a:schemeClr val="tx1"/>
                </a:solidFill>
              </a:rPr>
              <a:t>~Use open-source maps</a:t>
            </a:r>
          </a:p>
          <a:p>
            <a:pPr algn="ctr"/>
            <a:r>
              <a:rPr lang="en-IN" sz="1200" dirty="0">
                <a:solidFill>
                  <a:schemeClr val="tx1"/>
                </a:solidFill>
              </a:rPr>
              <a:t>~Start with dummy data → live GPS ~Optimize backend (Django + caching)</a:t>
            </a:r>
          </a:p>
          <a:p>
            <a:pPr algn="ctr"/>
            <a:r>
              <a:rPr lang="en-IN" sz="1200" dirty="0">
                <a:solidFill>
                  <a:schemeClr val="tx1"/>
                </a:solidFill>
              </a:rPr>
              <a:t>~Partner with transport authorities</a:t>
            </a:r>
          </a:p>
          <a:p>
            <a:pPr algn="ctr"/>
            <a:r>
              <a:rPr lang="en-IN" sz="1200" dirty="0">
                <a:solidFill>
                  <a:schemeClr val="tx1"/>
                </a:solidFill>
              </a:rPr>
              <a:t>~Simple, user-friendly UI</a:t>
            </a:r>
          </a:p>
          <a:p>
            <a:pPr algn="ctr"/>
            <a:r>
              <a:rPr lang="en-IN" sz="1200" dirty="0">
                <a:solidFill>
                  <a:schemeClr val="tx1"/>
                </a:solidFill>
              </a:rPr>
              <a:t>~Strong data security</a:t>
            </a:r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7DCF5607-7A45-85D6-2977-A3669CC1895B}"/>
              </a:ext>
            </a:extLst>
          </p:cNvPr>
          <p:cNvSpPr/>
          <p:nvPr/>
        </p:nvSpPr>
        <p:spPr>
          <a:xfrm>
            <a:off x="7274806" y="3539642"/>
            <a:ext cx="2519189" cy="2239507"/>
          </a:xfrm>
          <a:prstGeom prst="hexagon">
            <a:avLst/>
          </a:prstGeom>
          <a:solidFill>
            <a:schemeClr val="accent1">
              <a:lumMod val="60000"/>
              <a:lumOff val="40000"/>
            </a:schemeClr>
          </a:solidFill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Risks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~High API costs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~Data privacy issues</a:t>
            </a:r>
          </a:p>
          <a:p>
            <a:pPr algn="ctr"/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E67AF7-D6D2-5572-D5A9-1DF7409199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492" y="4001529"/>
            <a:ext cx="4684703" cy="16506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340FFF-EE51-5958-C7B0-9D8B961C63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10" y="2086597"/>
            <a:ext cx="3516306" cy="16083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76F41A1-29D3-6A46-D84B-11E8679F961C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4102" y="892613"/>
            <a:ext cx="1360799" cy="1662354"/>
          </a:xfrm>
          <a:prstGeom prst="rect">
            <a:avLst/>
          </a:prstGeom>
        </p:spPr>
      </p:pic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6607B2AD-7184-C518-468B-297D5A438594}"/>
              </a:ext>
            </a:extLst>
          </p:cNvPr>
          <p:cNvCxnSpPr>
            <a:cxnSpLocks/>
          </p:cNvCxnSpPr>
          <p:nvPr/>
        </p:nvCxnSpPr>
        <p:spPr>
          <a:xfrm flipV="1">
            <a:off x="3546373" y="2705667"/>
            <a:ext cx="748986" cy="218203"/>
          </a:xfrm>
          <a:prstGeom prst="curvedConnector3">
            <a:avLst>
              <a:gd name="adj1" fmla="val 120681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Connector: Curved 32">
            <a:extLst>
              <a:ext uri="{FF2B5EF4-FFF2-40B4-BE49-F238E27FC236}">
                <a16:creationId xmlns:a16="http://schemas.microsoft.com/office/drawing/2014/main" id="{EEDDBC48-3763-347D-D4A6-2E38B7608462}"/>
              </a:ext>
            </a:extLst>
          </p:cNvPr>
          <p:cNvCxnSpPr>
            <a:cxnSpLocks/>
          </p:cNvCxnSpPr>
          <p:nvPr/>
        </p:nvCxnSpPr>
        <p:spPr>
          <a:xfrm>
            <a:off x="3625515" y="3240505"/>
            <a:ext cx="669844" cy="511660"/>
          </a:xfrm>
          <a:prstGeom prst="curvedConnector3">
            <a:avLst>
              <a:gd name="adj1" fmla="val 169745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72564" y="175844"/>
            <a:ext cx="1529862" cy="64632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/>
          <p:cNvSpPr txBox="1"/>
          <p:nvPr/>
        </p:nvSpPr>
        <p:spPr>
          <a:xfrm>
            <a:off x="413238" y="298938"/>
            <a:ext cx="1389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CodeNova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8104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0FBDB8-90D3-D187-4D3D-14B153B8AA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4779" y="54384"/>
            <a:ext cx="1804598" cy="917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C54878-DC70-4EB1-F3F4-4010049E213E}"/>
              </a:ext>
            </a:extLst>
          </p:cNvPr>
          <p:cNvSpPr txBox="1"/>
          <p:nvPr/>
        </p:nvSpPr>
        <p:spPr>
          <a:xfrm>
            <a:off x="2374232" y="3429000"/>
            <a:ext cx="48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BF2F0C-BC5B-53E5-3654-8E555931C6EC}"/>
              </a:ext>
            </a:extLst>
          </p:cNvPr>
          <p:cNvSpPr txBox="1"/>
          <p:nvPr/>
        </p:nvSpPr>
        <p:spPr>
          <a:xfrm>
            <a:off x="2743994" y="151745"/>
            <a:ext cx="5866606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 dirty="0">
                <a:latin typeface="Bell MT" panose="02020503060305020303" pitchFamily="18" charset="0"/>
              </a:rPr>
              <a:t>Transformative Impact</a:t>
            </a:r>
          </a:p>
          <a:p>
            <a:endParaRPr lang="en-IN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8FAC918-FCD6-FBB9-CA15-5DFFF21B104B}"/>
              </a:ext>
            </a:extLst>
          </p:cNvPr>
          <p:cNvCxnSpPr/>
          <p:nvPr/>
        </p:nvCxnSpPr>
        <p:spPr>
          <a:xfrm>
            <a:off x="3198238" y="971639"/>
            <a:ext cx="479658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CC1CF240-17F6-1A32-F776-08652DBCF103}"/>
              </a:ext>
            </a:extLst>
          </p:cNvPr>
          <p:cNvSpPr/>
          <p:nvPr/>
        </p:nvSpPr>
        <p:spPr>
          <a:xfrm>
            <a:off x="229394" y="1468697"/>
            <a:ext cx="3561347" cy="3487827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20000" endPos="21000" dist="1016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Social Benefits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Reduces passenger anxiety, improves accessibility for elderly and disabled citizens, and enables predictable travel planning for daily activities.</a:t>
            </a:r>
          </a:p>
          <a:p>
            <a:pPr algn="ctr"/>
            <a:endParaRPr lang="en-IN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1B6845E-F31E-8D63-56CB-8475A7EF8874}"/>
              </a:ext>
            </a:extLst>
          </p:cNvPr>
          <p:cNvSpPr/>
          <p:nvPr/>
        </p:nvSpPr>
        <p:spPr>
          <a:xfrm>
            <a:off x="4154905" y="1468697"/>
            <a:ext cx="3561347" cy="3487827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stA="20000" endPos="36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Economic Impact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Increases productivity through reduced commute uncertainty. Over time, this decreases the reliance on private vehicles and helps India save billions on fuel wastage, traffic jams and congestion.</a:t>
            </a:r>
            <a:endParaRPr lang="en-US" dirty="0"/>
          </a:p>
          <a:p>
            <a:pPr algn="ctr"/>
            <a:endParaRPr lang="en-IN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622959C-5527-C18A-8EC7-F014EC2CD6EC}"/>
              </a:ext>
            </a:extLst>
          </p:cNvPr>
          <p:cNvSpPr/>
          <p:nvPr/>
        </p:nvSpPr>
        <p:spPr>
          <a:xfrm>
            <a:off x="8043704" y="1468699"/>
            <a:ext cx="3561347" cy="3487827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  <a:reflection blurRad="12700" stA="20000" endPos="20000" dist="1016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/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Environmental Impact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Promotes sustainable transport choices, reduces private vehicle dependency, and contributes to lower carbon emissions in urban areas.</a:t>
            </a:r>
          </a:p>
          <a:p>
            <a:pPr algn="ctr"/>
            <a:endParaRPr lang="en-IN" dirty="0"/>
          </a:p>
        </p:txBody>
      </p:sp>
      <p:pic>
        <p:nvPicPr>
          <p:cNvPr id="31" name="Graphic 30" descr="Plant with solid fill">
            <a:extLst>
              <a:ext uri="{FF2B5EF4-FFF2-40B4-BE49-F238E27FC236}">
                <a16:creationId xmlns:a16="http://schemas.microsoft.com/office/drawing/2014/main" id="{9DF97A63-3F98-2158-F7D5-BECBBA0C45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8080416" y="1537767"/>
            <a:ext cx="802106" cy="802106"/>
          </a:xfrm>
          <a:prstGeom prst="rect">
            <a:avLst/>
          </a:prstGeom>
        </p:spPr>
      </p:pic>
      <p:pic>
        <p:nvPicPr>
          <p:cNvPr id="33" name="Graphic 32" descr="Clock with solid fill">
            <a:extLst>
              <a:ext uri="{FF2B5EF4-FFF2-40B4-BE49-F238E27FC236}">
                <a16:creationId xmlns:a16="http://schemas.microsoft.com/office/drawing/2014/main" id="{4B4F8ACE-6608-02D4-963A-6A7ACBF673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369041" y="1516869"/>
            <a:ext cx="769873" cy="769873"/>
          </a:xfrm>
          <a:prstGeom prst="rect">
            <a:avLst/>
          </a:prstGeom>
        </p:spPr>
      </p:pic>
      <p:pic>
        <p:nvPicPr>
          <p:cNvPr id="35" name="Graphic 34" descr="Arrow circle with solid fill">
            <a:extLst>
              <a:ext uri="{FF2B5EF4-FFF2-40B4-BE49-F238E27FC236}">
                <a16:creationId xmlns:a16="http://schemas.microsoft.com/office/drawing/2014/main" id="{48A55C36-7FCC-4041-7FE5-18928AA5D16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4286444" y="1509663"/>
            <a:ext cx="830210" cy="83021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D2818600-442C-C717-5935-F8674B49E7A6}"/>
              </a:ext>
            </a:extLst>
          </p:cNvPr>
          <p:cNvSpPr txBox="1"/>
          <p:nvPr/>
        </p:nvSpPr>
        <p:spPr>
          <a:xfrm>
            <a:off x="334316" y="5296970"/>
            <a:ext cx="111595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Over time, this platform transforms local transport into smart mobility, helping tier-2 and tier-3 cities join the digital India revolution with tangible improvements for all.</a:t>
            </a:r>
          </a:p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774E63-48D4-8EE5-F449-D417CE8A55DD}"/>
              </a:ext>
            </a:extLst>
          </p:cNvPr>
          <p:cNvSpPr txBox="1"/>
          <p:nvPr/>
        </p:nvSpPr>
        <p:spPr>
          <a:xfrm>
            <a:off x="3927912" y="6449961"/>
            <a:ext cx="32453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white"/>
                </a:solidFill>
                <a:latin typeface="TradeGothic"/>
              </a:rPr>
              <a:t>@SIH Idea submission- Template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22B561-3105-A092-2FEC-59CB2E813BA6}"/>
              </a:ext>
            </a:extLst>
          </p:cNvPr>
          <p:cNvSpPr txBox="1"/>
          <p:nvPr/>
        </p:nvSpPr>
        <p:spPr>
          <a:xfrm>
            <a:off x="11849718" y="6434284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5</a:t>
            </a:r>
            <a:endParaRPr lang="en-IN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272564" y="175844"/>
            <a:ext cx="1529862" cy="64632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413238" y="298938"/>
            <a:ext cx="1389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CodeNova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3957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BF12EA-02B3-6F2C-6E17-1F463D852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4779" y="54384"/>
            <a:ext cx="1804598" cy="917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A5D44B-0EBD-0A39-6636-3514CFBD937C}"/>
              </a:ext>
            </a:extLst>
          </p:cNvPr>
          <p:cNvSpPr txBox="1"/>
          <p:nvPr/>
        </p:nvSpPr>
        <p:spPr>
          <a:xfrm>
            <a:off x="2025446" y="159068"/>
            <a:ext cx="78723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Bell MT" panose="02020503060305020303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  <a:endParaRPr lang="en-IN" sz="4000" dirty="0">
              <a:latin typeface="Bell MT" panose="02020503060305020303" pitchFamily="18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64AF9-76C9-DFDE-63A0-77DFA49D7402}"/>
              </a:ext>
            </a:extLst>
          </p:cNvPr>
          <p:cNvCxnSpPr/>
          <p:nvPr/>
        </p:nvCxnSpPr>
        <p:spPr>
          <a:xfrm>
            <a:off x="2526890" y="866954"/>
            <a:ext cx="66367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F5F221B-4080-658D-0C3F-4E5860D393D2}"/>
              </a:ext>
            </a:extLst>
          </p:cNvPr>
          <p:cNvSpPr txBox="1"/>
          <p:nvPr/>
        </p:nvSpPr>
        <p:spPr>
          <a:xfrm>
            <a:off x="182623" y="840298"/>
            <a:ext cx="11911054" cy="5479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dirty="0">
                <a:latin typeface="Bell MT" panose="02020503060305020303" pitchFamily="18" charset="0"/>
              </a:rPr>
              <a:t>🔹 </a:t>
            </a:r>
            <a:r>
              <a:rPr lang="en-IN" sz="2000" b="1" dirty="0">
                <a:latin typeface="Arial Black" panose="020B0A04020102020204" pitchFamily="34" charset="0"/>
              </a:rPr>
              <a:t>Research Reports:</a:t>
            </a:r>
            <a:r>
              <a:rPr lang="en-US" sz="1750" b="1" dirty="0">
                <a:latin typeface="Segoe UI Variable Text" pitchFamily="2" charset="0"/>
              </a:rPr>
              <a:t>-</a:t>
            </a:r>
            <a:endParaRPr lang="en-US" sz="1750" dirty="0">
              <a:latin typeface="Segoe UI Variable Text" pitchFamily="2" charset="0"/>
            </a:endParaRPr>
          </a:p>
          <a:p>
            <a:r>
              <a:rPr lang="en-US" sz="1600" b="1" dirty="0"/>
              <a:t>             </a:t>
            </a:r>
            <a:r>
              <a:rPr lang="en-US" dirty="0"/>
              <a:t>Urban Mobility India Report 2024: Highlights the daily problems and delays faced by commuters in small cities.</a:t>
            </a:r>
          </a:p>
          <a:p>
            <a:pPr algn="just">
              <a:lnSpc>
                <a:spcPct val="150000"/>
              </a:lnSpc>
            </a:pPr>
            <a:r>
              <a:rPr lang="en-US" sz="1600" dirty="0"/>
              <a:t>             </a:t>
            </a:r>
            <a:r>
              <a:rPr lang="en-US" dirty="0"/>
              <a:t>ORF Data: Shows how much money India loses each year due to public transport inefficiency</a:t>
            </a:r>
          </a:p>
          <a:p>
            <a:pPr algn="just"/>
            <a:endParaRPr lang="en-IN" sz="1600" b="1" dirty="0">
              <a:latin typeface="Bell MT" panose="02020503060305020303" pitchFamily="18" charset="0"/>
            </a:endParaRPr>
          </a:p>
          <a:p>
            <a:pPr algn="just"/>
            <a:r>
              <a:rPr lang="en-IN" sz="1600" b="1" dirty="0">
                <a:latin typeface="Bell MT" panose="02020503060305020303" pitchFamily="18" charset="0"/>
              </a:rPr>
              <a:t>🔹 </a:t>
            </a:r>
            <a:r>
              <a:rPr lang="en-IN" sz="1600" b="1" dirty="0">
                <a:latin typeface="Arial Black" panose="020B0A04020102020204" pitchFamily="34" charset="0"/>
              </a:rPr>
              <a:t>Commuter Insights and App Analysis:-</a:t>
            </a:r>
            <a:endParaRPr lang="en-IN" sz="1750" b="1" dirty="0">
              <a:latin typeface="Segoe UI Variable Text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n-IN" sz="1600" dirty="0"/>
              <a:t>             </a:t>
            </a:r>
            <a:r>
              <a:rPr lang="en-US" dirty="0"/>
              <a:t>Real commuter feedback and case studies helped design practical features.</a:t>
            </a:r>
          </a:p>
          <a:p>
            <a:pPr algn="just">
              <a:lnSpc>
                <a:spcPct val="150000"/>
              </a:lnSpc>
            </a:pPr>
            <a:r>
              <a:rPr lang="en-IN" sz="1600" dirty="0"/>
              <a:t>             </a:t>
            </a:r>
            <a:r>
              <a:rPr lang="en-US" dirty="0"/>
              <a:t>Existing apps like "Where is My Train" were studied for strengths and weaknesses.</a:t>
            </a:r>
          </a:p>
          <a:p>
            <a:pPr algn="just">
              <a:lnSpc>
                <a:spcPct val="150000"/>
              </a:lnSpc>
            </a:pPr>
            <a:endParaRPr lang="en-IN" sz="1600" dirty="0"/>
          </a:p>
          <a:p>
            <a:pPr algn="just">
              <a:lnSpc>
                <a:spcPct val="150000"/>
              </a:lnSpc>
            </a:pPr>
            <a:r>
              <a:rPr lang="en-IN" sz="1600" b="1" dirty="0">
                <a:latin typeface="Arial Black" panose="020B0A04020102020204" pitchFamily="34" charset="0"/>
              </a:rPr>
              <a:t>🔹Technical References:-</a:t>
            </a:r>
          </a:p>
          <a:p>
            <a:pPr algn="just">
              <a:lnSpc>
                <a:spcPct val="150000"/>
              </a:lnSpc>
            </a:pPr>
            <a:r>
              <a:rPr lang="en-IN" sz="1600" dirty="0"/>
              <a:t>            </a:t>
            </a:r>
            <a:r>
              <a:rPr lang="en-IN" sz="1600" b="1" dirty="0"/>
              <a:t>Django</a:t>
            </a:r>
            <a:r>
              <a:rPr lang="en-IN" sz="1600" dirty="0"/>
              <a:t> docs for backend</a:t>
            </a:r>
          </a:p>
          <a:p>
            <a:pPr algn="just">
              <a:lnSpc>
                <a:spcPct val="150000"/>
              </a:lnSpc>
            </a:pPr>
            <a:r>
              <a:rPr lang="en-IN" sz="1600" dirty="0"/>
              <a:t>            </a:t>
            </a:r>
            <a:r>
              <a:rPr lang="en-IN" sz="1600" b="1" dirty="0"/>
              <a:t>Font Awesome </a:t>
            </a:r>
            <a:r>
              <a:rPr lang="en-IN" sz="1600" dirty="0"/>
              <a:t>for</a:t>
            </a:r>
            <a:r>
              <a:rPr lang="en-IN" sz="1600" b="1" dirty="0"/>
              <a:t> </a:t>
            </a:r>
            <a:r>
              <a:rPr lang="en-IN" sz="1600" dirty="0"/>
              <a:t>icons </a:t>
            </a:r>
          </a:p>
          <a:p>
            <a:pPr algn="just">
              <a:lnSpc>
                <a:spcPct val="150000"/>
              </a:lnSpc>
            </a:pPr>
            <a:r>
              <a:rPr lang="en-IN" sz="1600" dirty="0"/>
              <a:t>            </a:t>
            </a:r>
            <a:r>
              <a:rPr lang="en-IN" sz="1600" b="1" dirty="0"/>
              <a:t>Figma </a:t>
            </a:r>
            <a:r>
              <a:rPr lang="en-IN" sz="1600" dirty="0"/>
              <a:t>for UI/UX designs</a:t>
            </a:r>
          </a:p>
          <a:p>
            <a:pPr algn="just">
              <a:lnSpc>
                <a:spcPct val="150000"/>
              </a:lnSpc>
            </a:pPr>
            <a:r>
              <a:rPr lang="en-IN" sz="1600" dirty="0"/>
              <a:t>            </a:t>
            </a:r>
            <a:r>
              <a:rPr lang="en-IN" sz="1600" b="1" dirty="0"/>
              <a:t>Kaggle and Open Street Map </a:t>
            </a:r>
            <a:r>
              <a:rPr lang="en-IN" sz="1600" dirty="0"/>
              <a:t>for transport and map data </a:t>
            </a:r>
          </a:p>
          <a:p>
            <a:pPr algn="just">
              <a:lnSpc>
                <a:spcPct val="150000"/>
              </a:lnSpc>
            </a:pPr>
            <a:r>
              <a:rPr lang="en-IN" sz="1600" b="1" dirty="0"/>
              <a:t>            MDN, W3schools, </a:t>
            </a:r>
            <a:r>
              <a:rPr lang="en-IN" sz="1600" b="1" dirty="0" err="1"/>
              <a:t>GeeksforGeeks</a:t>
            </a:r>
            <a:r>
              <a:rPr lang="en-IN" sz="1600" b="1" dirty="0"/>
              <a:t> </a:t>
            </a:r>
            <a:r>
              <a:rPr lang="en-IN" sz="1600" dirty="0"/>
              <a:t>for code guidance</a:t>
            </a:r>
          </a:p>
          <a:p>
            <a:pPr algn="just">
              <a:lnSpc>
                <a:spcPct val="150000"/>
              </a:lnSpc>
            </a:pPr>
            <a:r>
              <a:rPr lang="en-IN" sz="1600" b="1" dirty="0"/>
              <a:t>            RedBus, Google Maps </a:t>
            </a:r>
            <a:r>
              <a:rPr lang="en-IN" sz="1600" dirty="0"/>
              <a:t> for public transport benchmarking</a:t>
            </a:r>
            <a:endParaRPr lang="en-IN" sz="1600" b="1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1A2D53F-4C7A-A5DF-E985-91B971287671}"/>
              </a:ext>
            </a:extLst>
          </p:cNvPr>
          <p:cNvCxnSpPr>
            <a:cxnSpLocks/>
          </p:cNvCxnSpPr>
          <p:nvPr/>
        </p:nvCxnSpPr>
        <p:spPr>
          <a:xfrm>
            <a:off x="521110" y="1848465"/>
            <a:ext cx="1966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9986E5A-62FD-21B7-E1A0-6E68802167AA}"/>
              </a:ext>
            </a:extLst>
          </p:cNvPr>
          <p:cNvCxnSpPr>
            <a:cxnSpLocks/>
          </p:cNvCxnSpPr>
          <p:nvPr/>
        </p:nvCxnSpPr>
        <p:spPr>
          <a:xfrm>
            <a:off x="521110" y="2743200"/>
            <a:ext cx="1966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0A1C18D-52B3-4C9A-05BD-A449B3B4EB2D}"/>
              </a:ext>
            </a:extLst>
          </p:cNvPr>
          <p:cNvCxnSpPr>
            <a:cxnSpLocks/>
          </p:cNvCxnSpPr>
          <p:nvPr/>
        </p:nvCxnSpPr>
        <p:spPr>
          <a:xfrm>
            <a:off x="521110" y="1474840"/>
            <a:ext cx="1966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1639F05-9FE2-00B8-B4E6-B07C9AB7EBA7}"/>
              </a:ext>
            </a:extLst>
          </p:cNvPr>
          <p:cNvCxnSpPr>
            <a:cxnSpLocks/>
          </p:cNvCxnSpPr>
          <p:nvPr/>
        </p:nvCxnSpPr>
        <p:spPr>
          <a:xfrm>
            <a:off x="521110" y="4277032"/>
            <a:ext cx="2261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A9C8C46-535F-4136-3063-AF6B2F044307}"/>
              </a:ext>
            </a:extLst>
          </p:cNvPr>
          <p:cNvCxnSpPr>
            <a:cxnSpLocks/>
          </p:cNvCxnSpPr>
          <p:nvPr/>
        </p:nvCxnSpPr>
        <p:spPr>
          <a:xfrm>
            <a:off x="521110" y="4640826"/>
            <a:ext cx="2359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A608A90-52C3-ED26-61B7-349731AF5ADF}"/>
              </a:ext>
            </a:extLst>
          </p:cNvPr>
          <p:cNvCxnSpPr>
            <a:cxnSpLocks/>
          </p:cNvCxnSpPr>
          <p:nvPr/>
        </p:nvCxnSpPr>
        <p:spPr>
          <a:xfrm>
            <a:off x="511278" y="5004619"/>
            <a:ext cx="2458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ACBDEE4-28DA-A294-E25C-93EDA37725EF}"/>
              </a:ext>
            </a:extLst>
          </p:cNvPr>
          <p:cNvCxnSpPr>
            <a:cxnSpLocks/>
          </p:cNvCxnSpPr>
          <p:nvPr/>
        </p:nvCxnSpPr>
        <p:spPr>
          <a:xfrm>
            <a:off x="521110" y="5742037"/>
            <a:ext cx="1966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1CF5CEE-9D9E-4533-9BCB-0BA4BE376DAD}"/>
              </a:ext>
            </a:extLst>
          </p:cNvPr>
          <p:cNvCxnSpPr>
            <a:cxnSpLocks/>
          </p:cNvCxnSpPr>
          <p:nvPr/>
        </p:nvCxnSpPr>
        <p:spPr>
          <a:xfrm>
            <a:off x="521110" y="6105832"/>
            <a:ext cx="2458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92A2E07-5E89-8831-8D59-9987107E7785}"/>
              </a:ext>
            </a:extLst>
          </p:cNvPr>
          <p:cNvCxnSpPr/>
          <p:nvPr/>
        </p:nvCxnSpPr>
        <p:spPr>
          <a:xfrm>
            <a:off x="0" y="2113936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9D62E94-FEDA-8989-4D5D-70A037277A44}"/>
              </a:ext>
            </a:extLst>
          </p:cNvPr>
          <p:cNvCxnSpPr/>
          <p:nvPr/>
        </p:nvCxnSpPr>
        <p:spPr>
          <a:xfrm>
            <a:off x="0" y="3510118"/>
            <a:ext cx="12496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5DF4024-1BCC-5D2F-D5D7-689A19109826}"/>
              </a:ext>
            </a:extLst>
          </p:cNvPr>
          <p:cNvCxnSpPr/>
          <p:nvPr/>
        </p:nvCxnSpPr>
        <p:spPr>
          <a:xfrm>
            <a:off x="0" y="866954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74B2999-5194-8FA3-3FEA-A55F3EF791C5}"/>
              </a:ext>
            </a:extLst>
          </p:cNvPr>
          <p:cNvCxnSpPr>
            <a:cxnSpLocks/>
          </p:cNvCxnSpPr>
          <p:nvPr/>
        </p:nvCxnSpPr>
        <p:spPr>
          <a:xfrm>
            <a:off x="-304800" y="6301797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85BE4D8-7328-4ADF-CC2B-EC7D96353DEA}"/>
              </a:ext>
            </a:extLst>
          </p:cNvPr>
          <p:cNvCxnSpPr/>
          <p:nvPr/>
        </p:nvCxnSpPr>
        <p:spPr>
          <a:xfrm>
            <a:off x="0" y="6301797"/>
            <a:ext cx="1227065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1D1E26FA-67DA-CBCA-8985-3AF6F645B885}"/>
              </a:ext>
            </a:extLst>
          </p:cNvPr>
          <p:cNvSpPr txBox="1"/>
          <p:nvPr/>
        </p:nvSpPr>
        <p:spPr>
          <a:xfrm>
            <a:off x="4222621" y="6402295"/>
            <a:ext cx="32453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white"/>
                </a:solidFill>
                <a:latin typeface="TradeGothic"/>
              </a:rPr>
              <a:t>@SIH Idea submission- Template</a:t>
            </a:r>
          </a:p>
          <a:p>
            <a:endParaRPr lang="en-IN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ACEBA7E-416A-5A29-A816-D909780383A9}"/>
              </a:ext>
            </a:extLst>
          </p:cNvPr>
          <p:cNvSpPr txBox="1"/>
          <p:nvPr/>
        </p:nvSpPr>
        <p:spPr>
          <a:xfrm>
            <a:off x="11774359" y="6472557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6</a:t>
            </a:r>
            <a:endParaRPr lang="en-IN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C045D617-3CFD-6A61-7D93-7B202B9AB5DF}"/>
              </a:ext>
            </a:extLst>
          </p:cNvPr>
          <p:cNvCxnSpPr>
            <a:cxnSpLocks/>
          </p:cNvCxnSpPr>
          <p:nvPr/>
        </p:nvCxnSpPr>
        <p:spPr>
          <a:xfrm>
            <a:off x="521110" y="3163529"/>
            <a:ext cx="1966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87A7AAE-859B-22CE-82E1-C184A74E1976}"/>
              </a:ext>
            </a:extLst>
          </p:cNvPr>
          <p:cNvCxnSpPr>
            <a:cxnSpLocks/>
          </p:cNvCxnSpPr>
          <p:nvPr/>
        </p:nvCxnSpPr>
        <p:spPr>
          <a:xfrm>
            <a:off x="511278" y="5383161"/>
            <a:ext cx="2458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228603" y="140675"/>
            <a:ext cx="1529862" cy="64632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/>
          <p:cNvSpPr txBox="1"/>
          <p:nvPr/>
        </p:nvSpPr>
        <p:spPr>
          <a:xfrm>
            <a:off x="369277" y="263769"/>
            <a:ext cx="1389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CodeNova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867607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2A0FDA3-EC68-4DD1-8F28-E424464A7D98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{1A8C0A2E-52BE-4BEB-BD26-9FB9DB221ED6}tf56160789_win32</Template>
  <TotalTime>426</TotalTime>
  <Words>586</Words>
  <Application>Microsoft Office PowerPoint</Application>
  <PresentationFormat>Widescreen</PresentationFormat>
  <Paragraphs>103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ＭＳ Ｐゴシック</vt:lpstr>
      <vt:lpstr>Arial</vt:lpstr>
      <vt:lpstr>Arial Black</vt:lpstr>
      <vt:lpstr>Bell MT</vt:lpstr>
      <vt:lpstr>Bookman Old Style</vt:lpstr>
      <vt:lpstr>Calibri</vt:lpstr>
      <vt:lpstr>Franklin Gothic Book</vt:lpstr>
      <vt:lpstr>Segoe UI Variable Text</vt:lpstr>
      <vt:lpstr>Times New Roman</vt:lpstr>
      <vt:lpstr>TradeGothic</vt:lpstr>
      <vt:lpstr>Custom</vt:lpstr>
      <vt:lpstr> </vt:lpstr>
      <vt:lpstr>The Challenge &amp; Our  Innovation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acer</dc:creator>
  <cp:lastModifiedBy>Nitesh Singh Negi</cp:lastModifiedBy>
  <cp:revision>8</cp:revision>
  <dcterms:created xsi:type="dcterms:W3CDTF">2025-09-23T09:32:47Z</dcterms:created>
  <dcterms:modified xsi:type="dcterms:W3CDTF">2025-09-26T05:23:26Z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